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line: every accessibility map treats disabled people as one group. We do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Wheelmap, Google, AccessNow all map venues. The barrier is usually the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beachhead. Judges reward a defined group over 'everyone'.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whole thesis. Ten seconds in the product shows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Play the recording here. If it fails, open the live URL and do the profile switch by hand.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photo of the room comes back rejected, and nothing is stored. Show that on purpose.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numbers from the live routing service, not mock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Nothing here is a prototype shortcut we would have to tear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accessibility line: an accessibility tool that only works for sighted mouse users is not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574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4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NavigAble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868680" y="3200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routing, scored per disability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" y="3794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8B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 is the picture. The list is the record.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68680" y="4813402"/>
            <a:ext cx="274320" cy="76810"/>
          </a:xfrm>
          <a:prstGeom prst="rect">
            <a:avLst/>
          </a:prstGeom>
          <a:solidFill>
            <a:srgbClr val="8D8677"/>
          </a:solidFill>
          <a:ln/>
        </p:spPr>
      </p:sp>
      <p:sp>
        <p:nvSpPr>
          <p:cNvPr id="6" name="Shape 4"/>
          <p:cNvSpPr/>
          <p:nvPr/>
        </p:nvSpPr>
        <p:spPr>
          <a:xfrm>
            <a:off x="1289304" y="4709160"/>
            <a:ext cx="274320" cy="2743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Shape 5"/>
          <p:cNvSpPr/>
          <p:nvPr/>
        </p:nvSpPr>
        <p:spPr>
          <a:xfrm>
            <a:off x="1709928" y="4709160"/>
            <a:ext cx="274320" cy="274320"/>
          </a:xfrm>
          <a:prstGeom prst="diamond">
            <a:avLst/>
          </a:prstGeom>
          <a:solidFill>
            <a:srgbClr val="D1662B"/>
          </a:solidFill>
          <a:ln/>
        </p:spPr>
      </p:sp>
      <p:sp>
        <p:nvSpPr>
          <p:cNvPr id="8" name="Shape 6"/>
          <p:cNvSpPr/>
          <p:nvPr/>
        </p:nvSpPr>
        <p:spPr>
          <a:xfrm>
            <a:off x="2130552" y="4709160"/>
            <a:ext cx="274320" cy="274320"/>
          </a:xfrm>
          <a:prstGeom prst="triangle">
            <a:avLst/>
          </a:prstGeom>
          <a:solidFill>
            <a:srgbClr val="CF4034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CC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54864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rate places, not paths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score for everyone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block wheels, not canes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Obstacles appear, then vanish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Discovered only on arrival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675120" y="182880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23272E"/>
          </a:solidFill>
          <a:ln w="12700">
            <a:solidFill>
              <a:srgbClr val="B8B2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0" y="182880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601200" y="182880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23272E"/>
          </a:solidFill>
          <a:ln w="12700">
            <a:solidFill>
              <a:srgbClr val="B8B2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0" y="182880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503920" y="2331720"/>
            <a:ext cx="1097280" cy="0"/>
          </a:xfrm>
          <a:prstGeom prst="line">
            <a:avLst/>
          </a:prstGeom>
          <a:noFill/>
          <a:ln w="25400">
            <a:solidFill>
              <a:srgbClr val="B8B2A4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8887968" y="2121408"/>
            <a:ext cx="347472" cy="347472"/>
          </a:xfrm>
          <a:prstGeom prst="triangle">
            <a:avLst/>
          </a:prstGeom>
          <a:solidFill>
            <a:srgbClr val="CF4034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2918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B8B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maps rate the two boxes.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B8B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barrier is the line between them.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CC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this is for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85800" y="1600200"/>
            <a:ext cx="457200" cy="457200"/>
          </a:xfrm>
          <a:prstGeom prst="ellipse">
            <a:avLst/>
          </a:prstGeom>
          <a:solidFill>
            <a:srgbClr val="CF4034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58191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Wheelchair and power chair users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85800" y="2441448"/>
            <a:ext cx="457200" cy="457200"/>
          </a:xfrm>
          <a:prstGeom prst="ellipse">
            <a:avLst/>
          </a:prstGeom>
          <a:solidFill>
            <a:srgbClr val="D1662B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242316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and low vision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85800" y="3282696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326440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Walker, rollator, cane users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85800" y="4123944"/>
            <a:ext cx="457200" cy="457200"/>
          </a:xfrm>
          <a:prstGeom prst="ellipse">
            <a:avLst/>
          </a:prstGeom>
          <a:solidFill>
            <a:srgbClr val="8CC2EA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4105656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disability services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85800" y="4965192"/>
            <a:ext cx="457200" cy="457200"/>
          </a:xfrm>
          <a:prstGeom prst="ellipse">
            <a:avLst/>
          </a:prstGeom>
          <a:solidFill>
            <a:srgbClr val="B8B2A4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4946904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accessibility auditors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772400" y="1600200"/>
            <a:ext cx="3749040" cy="3840480"/>
          </a:xfrm>
          <a:prstGeom prst="roundRect">
            <a:avLst>
              <a:gd name="adj" fmla="val 2927"/>
            </a:avLst>
          </a:prstGeom>
          <a:solidFill>
            <a:srgbClr val="1B1E23"/>
          </a:solidFill>
          <a:ln w="12700">
            <a:solidFill>
              <a:srgbClr val="3A40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0" y="1874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CC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where the need is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046720" y="237744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B8B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campus. Roughly 20,000 students, a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B8B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highway on one edge, and paths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B8B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change with every construction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B8B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project.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B8B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it there, then widen the box.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CC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obstacle, four answers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4846320" cy="1828800"/>
          </a:xfrm>
          <a:prstGeom prst="roundRect">
            <a:avLst>
              <a:gd name="adj" fmla="val 6000"/>
            </a:avLst>
          </a:prstGeom>
          <a:solidFill>
            <a:srgbClr val="1B1E23"/>
          </a:solidFill>
          <a:ln w="12700">
            <a:solidFill>
              <a:srgbClr val="3A404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8288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Stairs-only entrance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B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handrail. Eight steps.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7889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existing map: one rating.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035040" y="1600200"/>
            <a:ext cx="5486400" cy="822960"/>
          </a:xfrm>
          <a:prstGeom prst="roundRect">
            <a:avLst>
              <a:gd name="adj" fmla="val 11111"/>
            </a:avLst>
          </a:prstGeom>
          <a:solidFill>
            <a:srgbClr val="1B1E23"/>
          </a:solidFill>
          <a:ln w="12700">
            <a:solidFill>
              <a:srgbClr val="3A40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63640" y="1874520"/>
            <a:ext cx="274320" cy="274320"/>
          </a:xfrm>
          <a:prstGeom prst="rect">
            <a:avLst/>
          </a:prstGeom>
          <a:solidFill>
            <a:srgbClr val="CF4034"/>
          </a:solidFill>
          <a:ln/>
        </p:spPr>
      </p:sp>
      <p:sp>
        <p:nvSpPr>
          <p:cNvPr id="9" name="Text 7"/>
          <p:cNvSpPr/>
          <p:nvPr/>
        </p:nvSpPr>
        <p:spPr>
          <a:xfrm>
            <a:off x="6720840" y="16002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Wheelchair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052560" y="160020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F4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3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058400" y="16002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B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Impassable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035040" y="2587752"/>
            <a:ext cx="5486400" cy="822960"/>
          </a:xfrm>
          <a:prstGeom prst="roundRect">
            <a:avLst>
              <a:gd name="adj" fmla="val 11111"/>
            </a:avLst>
          </a:prstGeom>
          <a:solidFill>
            <a:srgbClr val="1B1E23"/>
          </a:solidFill>
          <a:ln w="12700">
            <a:solidFill>
              <a:srgbClr val="3A40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2862072"/>
            <a:ext cx="274320" cy="2743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258775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052560" y="2587752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 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0058400" y="2587752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B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035040" y="3575304"/>
            <a:ext cx="5486400" cy="822960"/>
          </a:xfrm>
          <a:prstGeom prst="roundRect">
            <a:avLst>
              <a:gd name="adj" fmla="val 11111"/>
            </a:avLst>
          </a:prstGeom>
          <a:solidFill>
            <a:srgbClr val="1B1E23"/>
          </a:solidFill>
          <a:ln w="12700">
            <a:solidFill>
              <a:srgbClr val="3A404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3640" y="3849624"/>
            <a:ext cx="274320" cy="2743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9" name="Text 17"/>
          <p:cNvSpPr/>
          <p:nvPr/>
        </p:nvSpPr>
        <p:spPr>
          <a:xfrm>
            <a:off x="6720840" y="3575304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vision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052560" y="3575304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 3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0058400" y="3575304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B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035040" y="4562856"/>
            <a:ext cx="5486400" cy="822960"/>
          </a:xfrm>
          <a:prstGeom prst="roundRect">
            <a:avLst>
              <a:gd name="adj" fmla="val 11111"/>
            </a:avLst>
          </a:prstGeom>
          <a:solidFill>
            <a:srgbClr val="1B1E23"/>
          </a:solidFill>
          <a:ln w="12700">
            <a:solidFill>
              <a:srgbClr val="3A40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63640" y="4837176"/>
            <a:ext cx="274320" cy="274320"/>
          </a:xfrm>
          <a:prstGeom prst="rect">
            <a:avLst/>
          </a:prstGeom>
          <a:solidFill>
            <a:srgbClr val="D1662B"/>
          </a:solidFill>
          <a:ln/>
        </p:spPr>
      </p:sp>
      <p:sp>
        <p:nvSpPr>
          <p:cNvPr id="24" name="Text 22"/>
          <p:cNvSpPr/>
          <p:nvPr/>
        </p:nvSpPr>
        <p:spPr>
          <a:xfrm>
            <a:off x="6720840" y="4562856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Walker or cane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052560" y="4562856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16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3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0058400" y="4562856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B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8B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carries a shape and a word, never colour alone.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0" y="2103120"/>
            <a:ext cx="5943600" cy="2651760"/>
          </a:xfrm>
          <a:prstGeom prst="roundRect">
            <a:avLst>
              <a:gd name="adj" fmla="val 5517"/>
            </a:avLst>
          </a:prstGeom>
          <a:solidFill>
            <a:srgbClr val="1B1E23"/>
          </a:solidFill>
          <a:ln w="25400">
            <a:solidFill>
              <a:srgbClr val="F2C1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108960" y="242316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4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108960" y="32461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 recording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108960" y="38404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B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 a kerb  ·  Four scores return  ·  Route avoids it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5210983"/>
            <a:ext cx="237744" cy="66568"/>
          </a:xfrm>
          <a:prstGeom prst="rect">
            <a:avLst/>
          </a:prstGeom>
          <a:solidFill>
            <a:srgbClr val="8D8677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0" y="5120640"/>
            <a:ext cx="237744" cy="23774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Shape 6"/>
          <p:cNvSpPr/>
          <p:nvPr/>
        </p:nvSpPr>
        <p:spPr>
          <a:xfrm>
            <a:off x="6309360" y="5120640"/>
            <a:ext cx="237744" cy="237744"/>
          </a:xfrm>
          <a:prstGeom prst="diamond">
            <a:avLst/>
          </a:prstGeom>
          <a:solidFill>
            <a:srgbClr val="D1662B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0" y="5120640"/>
            <a:ext cx="237744" cy="237744"/>
          </a:xfrm>
          <a:prstGeom prst="triangle">
            <a:avLst/>
          </a:prstGeom>
          <a:solidFill>
            <a:srgbClr val="CF4034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CC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AI is used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53035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vision reads photos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 function call output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profiles scored independently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Non-walkway photos rejected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 and fallback model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949440" y="1600200"/>
            <a:ext cx="3108960" cy="731520"/>
          </a:xfrm>
          <a:prstGeom prst="roundRect">
            <a:avLst>
              <a:gd name="adj" fmla="val 12500"/>
            </a:avLst>
          </a:prstGeom>
          <a:solidFill>
            <a:srgbClr val="1B1E23"/>
          </a:solidFill>
          <a:ln w="19050">
            <a:solidFill>
              <a:srgbClr val="F4F0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0" y="16002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503920" y="2350008"/>
            <a:ext cx="0" cy="283464"/>
          </a:xfrm>
          <a:prstGeom prst="line">
            <a:avLst/>
          </a:prstGeom>
          <a:noFill/>
          <a:ln w="19050">
            <a:solidFill>
              <a:srgbClr val="B8B2A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49440" y="2651760"/>
            <a:ext cx="3108960" cy="731520"/>
          </a:xfrm>
          <a:prstGeom prst="roundRect">
            <a:avLst>
              <a:gd name="adj" fmla="val 12500"/>
            </a:avLst>
          </a:prstGeom>
          <a:solidFill>
            <a:srgbClr val="1B1E23"/>
          </a:solidFill>
          <a:ln w="19050">
            <a:solidFill>
              <a:srgbClr val="F2C1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0" y="26517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503920" y="3401568"/>
            <a:ext cx="0" cy="283464"/>
          </a:xfrm>
          <a:prstGeom prst="line">
            <a:avLst/>
          </a:prstGeom>
          <a:noFill/>
          <a:ln w="19050">
            <a:solidFill>
              <a:srgbClr val="B8B2A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9440" y="3703320"/>
            <a:ext cx="3108960" cy="731520"/>
          </a:xfrm>
          <a:prstGeom prst="roundRect">
            <a:avLst>
              <a:gd name="adj" fmla="val 12500"/>
            </a:avLst>
          </a:prstGeom>
          <a:solidFill>
            <a:srgbClr val="1B1E23"/>
          </a:solidFill>
          <a:ln w="19050">
            <a:solidFill>
              <a:srgbClr val="8CC2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0" y="37033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8CC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scores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503920" y="4453128"/>
            <a:ext cx="0" cy="283464"/>
          </a:xfrm>
          <a:prstGeom prst="line">
            <a:avLst/>
          </a:prstGeom>
          <a:noFill/>
          <a:ln w="19050">
            <a:solidFill>
              <a:srgbClr val="B8B2A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49440" y="4754880"/>
            <a:ext cx="3108960" cy="731520"/>
          </a:xfrm>
          <a:prstGeom prst="roundRect">
            <a:avLst>
              <a:gd name="adj" fmla="val 12500"/>
            </a:avLst>
          </a:prstGeom>
          <a:solidFill>
            <a:srgbClr val="1B1E23"/>
          </a:solidFill>
          <a:ln w="19050">
            <a:solidFill>
              <a:srgbClr val="D166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0" y="47548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D16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on map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8B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output, never parsed from prose.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CC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two points, four routes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2560320" cy="2468880"/>
          </a:xfrm>
          <a:prstGeom prst="roundRect">
            <a:avLst>
              <a:gd name="adj" fmla="val 4444"/>
            </a:avLst>
          </a:prstGeom>
          <a:solidFill>
            <a:srgbClr val="1B1E23"/>
          </a:solidFill>
          <a:ln w="12700">
            <a:solidFill>
              <a:srgbClr val="3A404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965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8B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Wheelchair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F40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396 m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337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5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474720" y="1737360"/>
            <a:ext cx="2560320" cy="2468880"/>
          </a:xfrm>
          <a:prstGeom prst="roundRect">
            <a:avLst>
              <a:gd name="adj" fmla="val 4444"/>
            </a:avLst>
          </a:prstGeom>
          <a:solidFill>
            <a:srgbClr val="1B1E23"/>
          </a:solidFill>
          <a:ln w="12700">
            <a:solidFill>
              <a:srgbClr val="3A40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965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8B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474720" y="23774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16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416 m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474720" y="3337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5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09360" y="1737360"/>
            <a:ext cx="2560320" cy="2468880"/>
          </a:xfrm>
          <a:prstGeom prst="roundRect">
            <a:avLst>
              <a:gd name="adj" fmla="val 4444"/>
            </a:avLst>
          </a:prstGeom>
          <a:solidFill>
            <a:srgbClr val="1B1E23"/>
          </a:solidFill>
          <a:ln w="12700">
            <a:solidFill>
              <a:srgbClr val="3A40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965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8B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09360" y="23774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424 m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309360" y="3337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4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144000" y="1737360"/>
            <a:ext cx="2560320" cy="2468880"/>
          </a:xfrm>
          <a:prstGeom prst="roundRect">
            <a:avLst>
              <a:gd name="adj" fmla="val 4444"/>
            </a:avLst>
          </a:prstGeom>
          <a:solidFill>
            <a:srgbClr val="1B1E23"/>
          </a:solidFill>
          <a:ln w="12700">
            <a:solidFill>
              <a:srgbClr val="3A40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0" y="1965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8B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vision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0" y="23774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8D86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416 m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9144000" y="3337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4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378 m if you ignore obstacles entirely.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40080" y="50292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accessibility, stated in metres: 18 more, and five obstacles a wheelchair cannot pass.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CC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scale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53035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PostGIS spatial queries, indexed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expire on schedule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swap, one file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city, no rework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Crowdsourced, no manual surveys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583680" y="1600200"/>
            <a:ext cx="4937760" cy="1234440"/>
          </a:xfrm>
          <a:prstGeom prst="roundRect">
            <a:avLst>
              <a:gd name="adj" fmla="val 8889"/>
            </a:avLst>
          </a:prstGeom>
          <a:solidFill>
            <a:srgbClr val="1B1E23"/>
          </a:solidFill>
          <a:ln w="12700">
            <a:solidFill>
              <a:srgbClr val="3A40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170992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CC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tier today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0" y="205740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B8B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Gemini, OpenRouteService,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B8B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Supabase, OpenFreeMap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83680" y="3017520"/>
            <a:ext cx="4937760" cy="1234440"/>
          </a:xfrm>
          <a:prstGeom prst="roundRect">
            <a:avLst>
              <a:gd name="adj" fmla="val 8889"/>
            </a:avLst>
          </a:prstGeom>
          <a:solidFill>
            <a:srgbClr val="1B1E23"/>
          </a:solidFill>
          <a:ln w="12700">
            <a:solidFill>
              <a:srgbClr val="3A40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312724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CC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Costs scale with use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0" y="347472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B8B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 call per photo,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B8B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1,300 tokens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583680" y="4434840"/>
            <a:ext cx="4937760" cy="1234440"/>
          </a:xfrm>
          <a:prstGeom prst="roundRect">
            <a:avLst>
              <a:gd name="adj" fmla="val 8889"/>
            </a:avLst>
          </a:prstGeom>
          <a:solidFill>
            <a:srgbClr val="1B1E23"/>
          </a:solidFill>
          <a:ln w="12700">
            <a:solidFill>
              <a:srgbClr val="3A40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0" y="454456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CC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Abuse handled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0" y="489204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B8B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limits, AI relevance gate,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B8B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server-only writes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CC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comes next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56692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confirm and dispute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photo metadata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address search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campus services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repair data feeds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766560" y="1920240"/>
            <a:ext cx="4754880" cy="2103120"/>
          </a:xfrm>
          <a:prstGeom prst="roundRect">
            <a:avLst>
              <a:gd name="adj" fmla="val 6087"/>
            </a:avLst>
          </a:prstGeom>
          <a:solidFill>
            <a:srgbClr val="1B1E23"/>
          </a:solidFill>
          <a:ln w="25400">
            <a:solidFill>
              <a:srgbClr val="F2C1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0" y="2148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8B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now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766560" y="251460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navig-able-kappa</a:t>
            </a:r>
            <a:endParaRPr lang="en-US" sz="2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.vercel.app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766560" y="4206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8B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a phone, and from the keyboard alone.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5773522"/>
            <a:ext cx="274320" cy="76810"/>
          </a:xfrm>
          <a:prstGeom prst="rect">
            <a:avLst/>
          </a:prstGeom>
          <a:solidFill>
            <a:srgbClr val="8D8677"/>
          </a:solidFill>
          <a:ln/>
        </p:spPr>
      </p:sp>
      <p:sp>
        <p:nvSpPr>
          <p:cNvPr id="9" name="Shape 7"/>
          <p:cNvSpPr/>
          <p:nvPr/>
        </p:nvSpPr>
        <p:spPr>
          <a:xfrm>
            <a:off x="1106424" y="5669280"/>
            <a:ext cx="274320" cy="2743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0" name="Shape 8"/>
          <p:cNvSpPr/>
          <p:nvPr/>
        </p:nvSpPr>
        <p:spPr>
          <a:xfrm>
            <a:off x="1527048" y="5669280"/>
            <a:ext cx="274320" cy="274320"/>
          </a:xfrm>
          <a:prstGeom prst="diamond">
            <a:avLst/>
          </a:prstGeom>
          <a:solidFill>
            <a:srgbClr val="D1662B"/>
          </a:solidFill>
          <a:ln/>
        </p:spPr>
      </p:sp>
      <p:sp>
        <p:nvSpPr>
          <p:cNvPr id="11" name="Shape 9"/>
          <p:cNvSpPr/>
          <p:nvPr/>
        </p:nvSpPr>
        <p:spPr>
          <a:xfrm>
            <a:off x="1947672" y="5669280"/>
            <a:ext cx="274320" cy="274320"/>
          </a:xfrm>
          <a:prstGeom prst="triangle">
            <a:avLst/>
          </a:prstGeom>
          <a:solidFill>
            <a:srgbClr val="CF4034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NavigAble</dc:title>
  <dc:subject>PptxGenJS Presentation</dc:subject>
  <dc:creator>NavigAble</dc:creator>
  <cp:lastModifiedBy>NavigAble</cp:lastModifiedBy>
  <cp:revision>1</cp:revision>
  <dcterms:created xsi:type="dcterms:W3CDTF">2026-08-19T09:35:58Z</dcterms:created>
  <dcterms:modified xsi:type="dcterms:W3CDTF">2026-08-19T09:35:58Z</dcterms:modified>
</cp:coreProperties>
</file>